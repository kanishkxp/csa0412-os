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0" y="1963426"/>
            <a:ext cx="10789920" cy="52322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 algn="ctr">
              <a:defRPr sz="3100" b="1">
                <a:solidFill>
                  <a:srgbClr val="19304E"/>
                </a:solidFill>
                <a:latin typeface="Aptos"/>
              </a:defRPr>
            </a:pPr>
            <a:r>
              <a:rPr dirty="0"/>
              <a:t>OPERATING SYSTEMS IN BANKING</a:t>
            </a:r>
            <a:r>
              <a:rPr lang="en-IN" dirty="0"/>
              <a:t> 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2531744"/>
            <a:ext cx="10424160" cy="384721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 algn="ctr">
              <a:defRPr sz="2200" b="0">
                <a:solidFill>
                  <a:srgbClr val="2F6096"/>
                </a:solidFill>
                <a:latin typeface="Aptos"/>
              </a:defRPr>
            </a:pPr>
            <a:r>
              <a:rPr dirty="0"/>
              <a:t>Handling Thousands of Transactions Simultaneously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87126" y="3214214"/>
            <a:ext cx="1143000" cy="64008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39" y="3497580"/>
            <a:ext cx="10608515" cy="63094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 algn="ctr">
              <a:defRPr sz="1900" b="0">
                <a:solidFill>
                  <a:srgbClr val="2D343C"/>
                </a:solidFill>
                <a:latin typeface="Aptos"/>
              </a:defRPr>
            </a:pPr>
            <a:r>
              <a:rPr dirty="0"/>
              <a:t>Technical Presentation</a:t>
            </a:r>
            <a:br>
              <a:rPr dirty="0"/>
            </a:br>
            <a:r>
              <a:rPr dirty="0"/>
              <a:t>Operating System Types • OS Structure • System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6400800" cy="96012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600" b="0">
                <a:solidFill>
                  <a:srgbClr val="646C74"/>
                </a:solidFill>
                <a:latin typeface="Aptos"/>
              </a:defRPr>
            </a:pPr>
            <a:r>
              <a:rPr sz="2000" dirty="0"/>
              <a:t>Name: Kanishk</a:t>
            </a:r>
            <a:br>
              <a:rPr sz="2000" dirty="0"/>
            </a:br>
            <a:r>
              <a:rPr sz="2000" dirty="0"/>
              <a:t>Register No.: 192511278</a:t>
            </a:r>
            <a:br>
              <a:rPr sz="2000" dirty="0"/>
            </a:br>
            <a:r>
              <a:rPr sz="2000" dirty="0"/>
              <a:t>University: Saveetha University</a:t>
            </a:r>
          </a:p>
        </p:txBody>
      </p:sp>
      <p:pic>
        <p:nvPicPr>
          <p:cNvPr id="8" name="Picture 7" descr="Saveetha University Vector Logo - (.SVG + .PNG) - VectorLogoSeek.Com">
            <a:extLst>
              <a:ext uri="{FF2B5EF4-FFF2-40B4-BE49-F238E27FC236}">
                <a16:creationId xmlns:a16="http://schemas.microsoft.com/office/drawing/2014/main" id="{31E37974-6E03-8830-3EAE-EC373765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49" b="14351"/>
          <a:stretch>
            <a:fillRect/>
          </a:stretch>
        </p:blipFill>
        <p:spPr>
          <a:xfrm>
            <a:off x="1089506" y="185831"/>
            <a:ext cx="4572371" cy="1393394"/>
          </a:xfrm>
          <a:prstGeom prst="rect">
            <a:avLst/>
          </a:prstGeom>
        </p:spPr>
      </p:pic>
      <p:pic>
        <p:nvPicPr>
          <p:cNvPr id="11" name="Picture 10" descr="Saveetha School of Engineering Leads Among Top 2 pc Indian Scientists in Individual Study by Stanford University USA">
            <a:extLst>
              <a:ext uri="{FF2B5EF4-FFF2-40B4-BE49-F238E27FC236}">
                <a16:creationId xmlns:a16="http://schemas.microsoft.com/office/drawing/2014/main" id="{3EBFCA9A-E1FA-1DE5-8383-A12EFF799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588" b="26322"/>
          <a:stretch>
            <a:fillRect/>
          </a:stretch>
        </p:blipFill>
        <p:spPr>
          <a:xfrm>
            <a:off x="6530126" y="166278"/>
            <a:ext cx="4354184" cy="15447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Why operating systems matter in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83462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Banks process deposits, withdrawals, fund transfers, card payments and online transactions.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Many users and services access the system at the same time.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The operating system manages CPU time, memory, files, devices and network communication.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A suitable OS must provide performance, reliability, security and controlled concurrency.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The OS works with banking applications and database software; it does not replace their transaction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2. Types of OS Suitable for Banking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A banking platform usually combines several OS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327065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Multi-user OS: supports many users and services accessing shared resources.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Multiprocessing OS: uses multiple CPU cores to run concurrent workloads.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Multitasking / time-sharing OS: schedules many processes and threads efficiently.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Network OS capabilities: support secure communication between application servers, databases and other services.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Real-time OS: useful for specific time-critical embedded systems (such as payment terminals), but not usually the main OS for a large banking core.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Examples of server platforms include Linux distributions and UNIX-like systems; Windows Server is also used in some banking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3. Why These OS Types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Core requirements for high-volume transaction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880789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Concurrency: handle multiple independent requests without mixing their data.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Scalability: add CPU cores or servers as transaction volume grows.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Availability: support monitoring, recovery and failover strategies.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Security: enforce permissions, process isolation, secure updates and audit logging.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Predictable resource management: prevent one workload from consuming all CPU or memory.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343C"/>
                </a:solidFill>
                <a:latin typeface="Aptos"/>
              </a:defRPr>
            </a:pPr>
            <a:r>
              <a:rPr dirty="0"/>
              <a:t>Important: high availability and transaction correctness also depend on application design, databases, networking and operational procedures.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4. OS Structure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A layered view of a typical banking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508760"/>
            <a:ext cx="10058400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04E"/>
                </a:solidFill>
                <a:latin typeface="Aptos"/>
              </a:defRPr>
            </a:pPr>
            <a:r>
              <a:t>Banking Applications</a:t>
            </a:r>
          </a:p>
          <a:p>
            <a:pPr algn="ctr">
              <a:defRPr sz="1000">
                <a:solidFill>
                  <a:srgbClr val="646C74"/>
                </a:solidFill>
                <a:latin typeface="Aptos"/>
              </a:defRPr>
            </a:pPr>
            <a:r>
              <a:t>Web / mobile banking • payments • account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61872" y="2313432"/>
            <a:ext cx="9546336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04E"/>
                </a:solidFill>
                <a:latin typeface="Aptos"/>
              </a:defRPr>
            </a:pPr>
            <a:r>
              <a:t>Middleware &amp; Database</a:t>
            </a:r>
          </a:p>
          <a:p>
            <a:pPr algn="ctr">
              <a:defRPr sz="1000">
                <a:solidFill>
                  <a:srgbClr val="646C74"/>
                </a:solidFill>
                <a:latin typeface="Aptos"/>
              </a:defRPr>
            </a:pPr>
            <a:r>
              <a:t>Application services • transaction manager •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3118104"/>
            <a:ext cx="9034272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04E"/>
                </a:solidFill>
                <a:latin typeface="Aptos"/>
              </a:defRPr>
            </a:pPr>
            <a:r>
              <a:t>System Call Interface</a:t>
            </a:r>
          </a:p>
          <a:p>
            <a:pPr algn="ctr">
              <a:defRPr sz="1000">
                <a:solidFill>
                  <a:srgbClr val="646C74"/>
                </a:solidFill>
                <a:latin typeface="Aptos"/>
              </a:defRPr>
            </a:pPr>
            <a:r>
              <a:t>Controlled requests from programs to the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73936" y="3922776"/>
            <a:ext cx="8522208" cy="566928"/>
          </a:xfrm>
          <a:prstGeom prst="roundRect">
            <a:avLst/>
          </a:prstGeom>
          <a:solidFill>
            <a:srgbClr val="F8F9FB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04E"/>
                </a:solidFill>
                <a:latin typeface="Aptos"/>
              </a:defRPr>
            </a:pPr>
            <a:r>
              <a:t>Operating System Kernel</a:t>
            </a:r>
          </a:p>
          <a:p>
            <a:pPr algn="ctr">
              <a:defRPr sz="1000">
                <a:solidFill>
                  <a:srgbClr val="646C74"/>
                </a:solidFill>
                <a:latin typeface="Aptos"/>
              </a:defRPr>
            </a:pPr>
            <a:r>
              <a:t>Scheduling • memory • files • networking •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4727448"/>
            <a:ext cx="8010144" cy="566928"/>
          </a:xfrm>
          <a:prstGeom prst="roundRect">
            <a:avLst/>
          </a:prstGeom>
          <a:solidFill>
            <a:srgbClr val="F2F6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04E"/>
                </a:solidFill>
                <a:latin typeface="Aptos"/>
              </a:defRPr>
            </a:pPr>
            <a:r>
              <a:t>Hardware</a:t>
            </a:r>
          </a:p>
          <a:p>
            <a:pPr algn="ctr">
              <a:defRPr sz="1000">
                <a:solidFill>
                  <a:srgbClr val="646C74"/>
                </a:solidFill>
                <a:latin typeface="Aptos"/>
              </a:defRPr>
            </a:pPr>
            <a:r>
              <a:t>CPU cores • RAM • storage • network interfaces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6. How a Banking Transaction Is Processed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Simplified end-to-end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9456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04E"/>
                </a:solidFill>
              </a:defRPr>
            </a:pPr>
            <a:r>
              <a:t>1. Client request</a:t>
            </a:r>
          </a:p>
          <a:p>
            <a:pPr algn="ctr">
              <a:defRPr sz="1100">
                <a:solidFill>
                  <a:srgbClr val="2D343C"/>
                </a:solidFill>
              </a:defRPr>
            </a:pPr>
            <a:r>
              <a:t>ATM / mobile app / branch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8" y="2670048"/>
            <a:ext cx="274320" cy="320040"/>
          </a:xfrm>
          <a:prstGeom prst="rightArrow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26079" y="219456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04E"/>
                </a:solidFill>
              </a:defRPr>
            </a:pPr>
            <a:r>
              <a:t>2. Banking service</a:t>
            </a:r>
          </a:p>
          <a:p>
            <a:pPr algn="ctr">
              <a:defRPr sz="1100">
                <a:solidFill>
                  <a:srgbClr val="2D343C"/>
                </a:solidFill>
              </a:defRPr>
            </a:pPr>
            <a:r>
              <a:t>Validate identity and request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56048" y="2670048"/>
            <a:ext cx="274320" cy="320040"/>
          </a:xfrm>
          <a:prstGeom prst="rightArrow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57800" y="219456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04E"/>
                </a:solidFill>
              </a:defRPr>
            </a:pPr>
            <a:r>
              <a:t>3. System calls</a:t>
            </a:r>
          </a:p>
          <a:p>
            <a:pPr algn="ctr">
              <a:defRPr sz="1100">
                <a:solidFill>
                  <a:srgbClr val="2D343C"/>
                </a:solidFill>
              </a:defRPr>
            </a:pPr>
            <a:r>
              <a:t>Network, files, memory, synchronization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87768" y="2670048"/>
            <a:ext cx="274320" cy="320040"/>
          </a:xfrm>
          <a:prstGeom prst="rightArrow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19" y="219456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04E"/>
                </a:solidFill>
              </a:defRPr>
            </a:pPr>
            <a:r>
              <a:t>4. Database</a:t>
            </a:r>
          </a:p>
          <a:p>
            <a:pPr algn="ctr">
              <a:defRPr sz="1100">
                <a:solidFill>
                  <a:srgbClr val="2D343C"/>
                </a:solidFill>
              </a:defRPr>
            </a:pPr>
            <a:r>
              <a:t>Check balance and update records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19488" y="2670048"/>
            <a:ext cx="274320" cy="320040"/>
          </a:xfrm>
          <a:prstGeom prst="rightArrow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21240" y="219456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304E"/>
                </a:solidFill>
              </a:defRPr>
            </a:pPr>
            <a:r>
              <a:t>5. Response</a:t>
            </a:r>
          </a:p>
          <a:p>
            <a:pPr algn="ctr">
              <a:defRPr sz="1100">
                <a:solidFill>
                  <a:srgbClr val="2D343C"/>
                </a:solidFill>
              </a:defRPr>
            </a:pPr>
            <a:r>
              <a:t>Return result and log the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100584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800" b="0">
                <a:solidFill>
                  <a:srgbClr val="2D343C"/>
                </a:solidFill>
                <a:latin typeface="Aptos"/>
              </a:defRPr>
            </a:pPr>
            <a:r>
              <a:t>The OS provides controlled access to hardware and shared resources. The banking application and database enforce business rules and transaction consistency.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7. What Are System Calls?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The interface between an application and the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142399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A system call is a controlled request made by a program for a service provided by the OS kernel.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Applications use system calls instead of directly controlling hardware.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System calls switch execution to a privileged kernel routine, which checks the request and returns a result.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They support files, networking, process management, memory mapping and synchronization.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System calls are not the same as ordinary library functions, although libraries often wrap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8. Important System Calls in Transaction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Examples from POSIX-style systems; exact calls vary by 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08760"/>
          <a:ext cx="1097279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System call / API family</a:t>
                      </a:r>
                    </a:p>
                  </a:txBody>
                  <a:tcPr>
                    <a:solidFill>
                      <a:srgbClr val="19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 in banking systems</a:t>
                      </a:r>
                    </a:p>
                  </a:txBody>
                  <a:tcPr>
                    <a:solidFill>
                      <a:srgbClr val="19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open(), read(), write(), close()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Read configuration, write logs, and access files safely.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socket(), send(), recv(), connect()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Communicate with clients, application services and databases.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fork(), exec(), wait() / process APIs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Start and manage service processes (usage depends on architecture).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mmap(), brk() / memory APIs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Request or map memory for application data and buffers.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mutexes, semaphores, futex / synchronization APIs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Coordinate threads and protect shared resources.</a:t>
                      </a:r>
                    </a:p>
                  </a:txBody>
                  <a:tcPr marL="109728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fsync() / storage flush APIs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defRPr sz="1200">
                          <a:solidFill>
                            <a:srgbClr val="2D343C"/>
                          </a:solidFill>
                        </a:defRPr>
                      </a:pPr>
                      <a:r>
                        <a:t>Request that critical file data be committed to storage; database durability needs broader design.</a:t>
                      </a:r>
                    </a:p>
                  </a:txBody>
                  <a:tcPr marL="109728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9. Concurrency and Data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Why OS services matter when thousands of requests arrive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773067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CPU scheduling lets many threads make progress across CPU cores.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Synchronization primitives help coordinate threads that share memory.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File and network I/O allow services to exchange requests, responses and logs.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Permissions and process isolation limit access to protected resources.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The OS cannot alone prevent double spending or lost updates: database transactions, locking, isolation levels and idempotency are essential.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For a transfer, debit and credit should be committed as one logical transaction or safely recovered.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10. Security and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Essential safeguards in a banking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2926955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Authentication and least-privilege access for administrators and services.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Regular security patches and hardened server configurations.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Encryption in transit and at rest, implemented by appropriate system and application components.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Centralized logs, audit trails, monitoring and alerting.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Backups, replication, tested recovery plans and redundant infrastructure.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Secure boot and hardware-backed protections may be used where appropriate.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343C"/>
                </a:solidFill>
                <a:latin typeface="Aptos"/>
              </a:defRPr>
            </a:pPr>
            <a:r>
              <a:rPr dirty="0"/>
              <a:t>Availability depends on the whole system—not only the 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11. Example: Fund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How system services support a typical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1. The application receives a transfer request and validates the user and transfer details.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2. Network system calls deliver the request to the application service.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3. The service asks the database to verify account status and available balance.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4. The database transaction updates the sender and receiver consistently.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5. File or logging services record the event; durable storage is managed by the database and storage stack.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6. The service sends a success or failure response back to the user.</a:t>
            </a:r>
          </a:p>
          <a:p>
            <a:pPr>
              <a:spcAft>
                <a:spcPts val="12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7. If a component fails, transaction recovery and retry controls prevent duplicate or partial transfers.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2800" b="1">
                <a:solidFill>
                  <a:srgbClr val="19304E"/>
                </a:solidFill>
                <a:latin typeface="Aptos"/>
              </a:defRPr>
            </a:pPr>
            <a:r>
              <a:t>12.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87552"/>
            <a:ext cx="1005840" cy="50292"/>
          </a:xfrm>
          <a:prstGeom prst="rect">
            <a:avLst/>
          </a:prstGeom>
          <a:solidFill>
            <a:srgbClr val="2F6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576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1300" b="0">
                <a:solidFill>
                  <a:srgbClr val="646C74"/>
                </a:solidFill>
                <a:latin typeface="Aptos"/>
              </a:defRPr>
            </a:pPr>
            <a:r>
              <a:t>Key points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75795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High-volume banking systems need multi-user, multitasking and multiprocessing capabilities.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Server operating systems such as Linux and Windows Server can support banking workloads when properly engineered.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A layered structure separates banking applications, databases, the system call interface, kernel services and hardware.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System calls provide controlled access to networking, files, processes, memory and synchronization.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43C"/>
                </a:solidFill>
                <a:latin typeface="Aptos"/>
              </a:defRPr>
            </a:pPr>
            <a:r>
              <a:rPr dirty="0"/>
              <a:t>Correctness, security and availability require cooperation between the OS, database, application and operational controls.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64592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Operating Systems • Banking Transaction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defRPr sz="900" b="0">
                <a:solidFill>
                  <a:srgbClr val="646C7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1186</Words>
  <Application>Microsoft Office PowerPoint</Application>
  <PresentationFormat>Widescreen</PresentationFormat>
  <Paragraphs>130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Kanishk C</cp:lastModifiedBy>
  <cp:revision>4</cp:revision>
  <dcterms:created xsi:type="dcterms:W3CDTF">2013-01-27T09:14:16Z</dcterms:created>
  <dcterms:modified xsi:type="dcterms:W3CDTF">2026-10-20T11:12:42Z</dcterms:modified>
  <cp:category/>
</cp:coreProperties>
</file>